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65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Cambria"/>
              </a:defRPr>
            </a:pPr>
            <a:r>
              <a:rPr lang="en-US" sz="1300" b="0" i="0" u="none" strike="noStrike">
                <a:solidFill>
                  <a:srgbClr val="0F172A"/>
                </a:solidFill>
                <a:latin typeface="Cambria"/>
              </a:rPr>
              <a:t>Top drugs by spend (Q9)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spend (USD)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\$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Insulin glargine</c:v>
                </c:pt>
                <c:pt idx="1">
                  <c:v>Albuterol</c:v>
                </c:pt>
                <c:pt idx="2">
                  <c:v>Atorvastatin</c:v>
                </c:pt>
                <c:pt idx="3">
                  <c:v>Amoxicillin</c:v>
                </c:pt>
                <c:pt idx="4">
                  <c:v>Metformin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40053</c:v>
                </c:pt>
                <c:pt idx="1">
                  <c:v>39358</c:v>
                </c:pt>
                <c:pt idx="2">
                  <c:v>25738</c:v>
                </c:pt>
                <c:pt idx="3">
                  <c:v>10996</c:v>
                </c:pt>
                <c:pt idx="4">
                  <c:v>9880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58F-4FA7-B6E9-886ACE9A32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EF2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7030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0680" y="-228600"/>
            <a:ext cx="4754880" cy="4754880"/>
          </a:xfrm>
          <a:prstGeom prst="ellipse">
            <a:avLst/>
          </a:prstGeom>
          <a:solidFill>
            <a:srgbClr val="5EEAD4">
              <a:alpha val="12000"/>
            </a:srgbClr>
          </a:solidFill>
          <a:ln w="9525">
            <a:solidFill>
              <a:srgbClr val="5EEAD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989320" y="320040"/>
            <a:ext cx="3657600" cy="3657600"/>
          </a:xfrm>
          <a:prstGeom prst="ellipse">
            <a:avLst/>
          </a:prstGeom>
          <a:solidFill>
            <a:srgbClr val="14B8A6">
              <a:alpha val="12000"/>
            </a:srgbClr>
          </a:solidFill>
          <a:ln w="9525">
            <a:solidFill>
              <a:srgbClr val="5EEAD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537960" y="868680"/>
            <a:ext cx="2560320" cy="2560320"/>
          </a:xfrm>
          <a:prstGeom prst="ellipse">
            <a:avLst/>
          </a:prstGeom>
          <a:solidFill>
            <a:srgbClr val="5EEAD4">
              <a:alpha val="12000"/>
            </a:srgbClr>
          </a:solidFill>
          <a:ln w="9525">
            <a:solidFill>
              <a:srgbClr val="5EEAD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086600" y="1417320"/>
            <a:ext cx="1463040" cy="1463040"/>
          </a:xfrm>
          <a:prstGeom prst="ellipse">
            <a:avLst/>
          </a:prstGeom>
          <a:solidFill>
            <a:srgbClr val="14B8A6">
              <a:alpha val="12000"/>
            </a:srgbClr>
          </a:solidFill>
          <a:ln w="9525">
            <a:solidFill>
              <a:srgbClr val="5EEAD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360920" y="1691640"/>
            <a:ext cx="914400" cy="91440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60920" y="1645920"/>
            <a:ext cx="914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DEPI · MICROSOFT DATA ENGINEER TRACK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37160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Data Warehouse</a:t>
            </a:r>
            <a:endParaRPr lang="en-US" sz="40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Analytics Platform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F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ETL · real-time patient vitals · clinical BI — for a 5-hospital, 20-clinic hospital network across Egypt.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1965960" cy="4572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9776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LIVE ON AZURE</a:t>
            </a:r>
            <a:endParaRPr lang="en-US" sz="1200" dirty="0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C6728550-D806-40F1-4103-EC3506E85C94}"/>
              </a:ext>
            </a:extLst>
          </p:cNvPr>
          <p:cNvSpPr/>
          <p:nvPr/>
        </p:nvSpPr>
        <p:spPr>
          <a:xfrm>
            <a:off x="2606042" y="405765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ar-EG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F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Mahmoud Ali Salem  ·  Ahmed Gamal  ·  Hussein Gabr  ·  John Emad  ·  Mahmoud Tolan  ·  Reem Ashraf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data scattered across siloed systems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965960" cy="260604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04088" y="1828800"/>
            <a:ext cx="457200" cy="45720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0408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04088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EHRs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04088" y="2816352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hospital runs its own local EHR — no cross-network patient view.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660904" y="1600200"/>
            <a:ext cx="1965960" cy="260604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862072" y="1828800"/>
            <a:ext cx="457200" cy="45720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8620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862072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Messy claims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862072" y="2816352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come back from 7 payers in a mix of CSV and XML formats.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818888" y="1600200"/>
            <a:ext cx="1965960" cy="260604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020056" y="1828800"/>
            <a:ext cx="457200" cy="45720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005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20056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vitals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0056" y="2816352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 monitors only expose vendor-specific dashboards, no feed.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976872" y="1600200"/>
            <a:ext cx="1965960" cy="260604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178040" y="1828800"/>
            <a:ext cx="457200" cy="45720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1780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7804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leadership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78040" y="2816352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answer to: readmission rate? worst-denying payer? unanswered alerts?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platform, three data motions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265176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87452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</a:rPr>
              <a:t>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ETL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035808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(Bronze → Silver → Gold) consolidates Synthea records, claims and pharmacy into a governed star schema.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55848" y="1645920"/>
            <a:ext cx="265176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584448" y="187452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84448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</a:rPr>
              <a:t>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84448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streaming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84448" y="3035808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vital signs flow through Event Hubs, get aggregated per minute and flagged for anomalies in under 60 seconds.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08776" y="1645920"/>
            <a:ext cx="265176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37376" y="187452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37376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</a:rPr>
              <a:t>▲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37376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BI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37376" y="3035808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7-page live dashboard answers operational, financial and clinical questions — with an AI “ask the data” assistant.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Medallion architecture on Azure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874520"/>
            <a:ext cx="1481328" cy="1188720"/>
          </a:xfrm>
          <a:prstGeom prst="roundRect">
            <a:avLst>
              <a:gd name="adj" fmla="val 7692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20116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2395728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Synthea · claims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vitals · providers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965960" y="1874520"/>
            <a:ext cx="2926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766E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240280" y="1874520"/>
            <a:ext cx="1481328" cy="1188720"/>
          </a:xfrm>
          <a:prstGeom prst="roundRect">
            <a:avLst>
              <a:gd name="adj" fmla="val 7692"/>
            </a:avLst>
          </a:prstGeom>
          <a:solidFill>
            <a:srgbClr val="E6FBF7"/>
          </a:solidFill>
          <a:ln w="12700">
            <a:solidFill>
              <a:srgbClr val="CBD5E1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240280" y="20116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Bronze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240280" y="2395728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parquet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ingest metadata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703320" y="1874520"/>
            <a:ext cx="2926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766E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977640" y="1874520"/>
            <a:ext cx="1481328" cy="1188720"/>
          </a:xfrm>
          <a:prstGeom prst="roundRect">
            <a:avLst>
              <a:gd name="adj" fmla="val 7692"/>
            </a:avLst>
          </a:prstGeom>
          <a:solidFill>
            <a:srgbClr val="CFF5EF"/>
          </a:solidFill>
          <a:ln w="12700">
            <a:solidFill>
              <a:srgbClr val="CBD5E1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977640" y="20116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Silver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977640" y="2395728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· schema +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 + quarantine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40680" y="1874520"/>
            <a:ext cx="2926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766E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715000" y="1874520"/>
            <a:ext cx="1481328" cy="1188720"/>
          </a:xfrm>
          <a:prstGeom prst="roundRect">
            <a:avLst>
              <a:gd name="adj" fmla="val 7692"/>
            </a:avLst>
          </a:prstGeom>
          <a:solidFill>
            <a:srgbClr val="14B8A6"/>
          </a:solidFill>
          <a:ln w="12700">
            <a:solidFill>
              <a:srgbClr val="CBD5E1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715000" y="20116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715000" y="2395728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F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6F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Azure SQL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78040" y="1874520"/>
            <a:ext cx="2926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766E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452360" y="1874520"/>
            <a:ext cx="1481328" cy="1188720"/>
          </a:xfrm>
          <a:prstGeom prst="roundRect">
            <a:avLst>
              <a:gd name="adj" fmla="val 7692"/>
            </a:avLst>
          </a:prstGeom>
          <a:solidFill>
            <a:srgbClr val="0B3B39"/>
          </a:solidFill>
          <a:ln w="12700">
            <a:solidFill>
              <a:srgbClr val="CBD5E1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452360" y="20116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52360" y="2395728"/>
            <a:ext cx="14813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F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E6F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429000"/>
            <a:ext cx="8138160" cy="868680"/>
          </a:xfrm>
          <a:prstGeom prst="roundRect">
            <a:avLst>
              <a:gd name="adj" fmla="val 9474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31520" y="34290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layer  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vitals → Azure Event Hubs → Python consumer (1-minute aggregation + anomaly detection) → dw.fact_vital_signs_minute → live dashboard.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AS-DESIGNED VS AS-DEPLOYED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design, student-budget deployment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8138160" cy="2414016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designed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deployed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Warehouse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Synapse dedicated pool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SQL Database (Basic)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compute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PySpark (local / CI + Docker)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Data Factory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loader scripts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Hubs + Spark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Hubs + Python consumer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BI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Streamlit on Container Apps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348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medallion architecture and star schema — only the underlying services changed.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GENERATION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synthetic data — zero real PHI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977640" cy="1133856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965960"/>
            <a:ext cx="502920" cy="50292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18105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17320" y="210312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patients, encounters, conditions &amp; medications — addresses remapped to Egyptian governorates.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645920"/>
            <a:ext cx="3977640" cy="1133856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92040" y="1965960"/>
            <a:ext cx="502920" cy="50292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577840" y="181051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generator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577840" y="210312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JSONL claims: 7 payers, ICD-10 codes, carrier-specific denial rates.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2944368"/>
            <a:ext cx="3977640" cy="1133856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3264408"/>
            <a:ext cx="502920" cy="50292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32644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17320" y="31089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Vitals simulator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17320" y="340156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Per-device IoT vitals at 1 Hz with baseline drift and injected anomalies.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2944368"/>
            <a:ext cx="3977640" cy="1133856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892040" y="3264408"/>
            <a:ext cx="502920" cy="502920"/>
          </a:xfrm>
          <a:prstGeom prst="ellipse">
            <a:avLst/>
          </a:prstGeom>
          <a:solidFill>
            <a:srgbClr val="F0FDFA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92040" y="32644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577840" y="31089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API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5577840" y="3401568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service exposing an 800-provider NPI registry, dumped for batch ETL.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 schema with SCD Type 2 dimensions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383280" y="2148840"/>
            <a:ext cx="2377440" cy="1691640"/>
          </a:xfrm>
          <a:prstGeom prst="roundRect">
            <a:avLst>
              <a:gd name="adj" fmla="val 5405"/>
            </a:avLst>
          </a:prstGeom>
          <a:solidFill>
            <a:srgbClr val="0B3B39"/>
          </a:solidFill>
          <a:ln/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383280" y="2286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383280" y="260604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fact_encounter</a:t>
            </a:r>
            <a:endParaRPr lang="en-US" sz="11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fact_claim</a:t>
            </a:r>
            <a:endParaRPr lang="en-US" sz="11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fact_prescription</a:t>
            </a:r>
            <a:endParaRPr lang="en-US" sz="11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fact_vital_signs_minute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1965960" cy="548640"/>
          </a:xfrm>
          <a:prstGeom prst="roundRect">
            <a:avLst>
              <a:gd name="adj" fmla="val 13333"/>
            </a:avLst>
          </a:prstGeom>
          <a:solidFill>
            <a:srgbClr val="F0FDFA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dim_patient *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880360"/>
            <a:ext cx="1965960" cy="548640"/>
          </a:xfrm>
          <a:prstGeom prst="roundRect">
            <a:avLst>
              <a:gd name="adj" fmla="val 13333"/>
            </a:avLst>
          </a:prstGeom>
          <a:solidFill>
            <a:srgbClr val="F0FDFA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288036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dim_provider *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675120" y="1783080"/>
            <a:ext cx="196596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675120" y="1783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dim_hospital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93592" y="1417320"/>
            <a:ext cx="196596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593592" y="141732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675120" y="2880360"/>
            <a:ext cx="196596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675120" y="288036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dim_payer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31720" y="3977640"/>
            <a:ext cx="196596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331720" y="39776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dim_diagnosis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46320" y="3977640"/>
            <a:ext cx="196596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46320" y="39776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dim_drug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" y="464515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 dim_patient &amp; dim_provider keep full history via effective_from / effective_to / is_current (SCD Type 2).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Bronze → Silver → Gold: idempotent &amp; governed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2578608" cy="2560320"/>
          </a:xfrm>
          <a:prstGeom prst="roundRect">
            <a:avLst>
              <a:gd name="adj" fmla="val 3214"/>
            </a:avLst>
          </a:prstGeom>
          <a:solidFill>
            <a:srgbClr val="E6FBF7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8470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3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Bronze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every source as-is: Snappy parquet, partitioned by ingest date, full lineage metadata. Append-only &amp; re-runnable.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90088" y="1645920"/>
            <a:ext cx="29260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766E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264408" y="1645920"/>
            <a:ext cx="2578608" cy="2560320"/>
          </a:xfrm>
          <a:prstGeom prst="roundRect">
            <a:avLst>
              <a:gd name="adj" fmla="val 3214"/>
            </a:avLst>
          </a:prstGeom>
          <a:solidFill>
            <a:srgbClr val="CFF5E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493008" y="18470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3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Silver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3493008" y="237744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schemas on Delta. 12 data-quality rules split clean vs quarantine; governorate remap; derived flags (age band, 30-day readmission).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51576" y="1645920"/>
            <a:ext cx="29260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766E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025896" y="1645920"/>
            <a:ext cx="2578608" cy="2560320"/>
          </a:xfrm>
          <a:prstGeom prst="roundRect">
            <a:avLst>
              <a:gd name="adj" fmla="val 3214"/>
            </a:avLst>
          </a:prstGeom>
          <a:solidFill>
            <a:srgbClr val="A7F3D0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54496" y="184708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B3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254496" y="2377440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surrogate keys, conformed dims and facts staged, then loaded into the Azure SQL dw.* star schema.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LAYER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patient vitals in under 60 seconds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1691640"/>
            <a:ext cx="493776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691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Vitals simulator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(~40 devices @ 1 Hz)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0" y="211226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</a:rPr>
              <a:t>↓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14400" y="2258568"/>
            <a:ext cx="493776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51560" y="22585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Event Hubs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(Kafka endpoint)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267919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</a:rPr>
              <a:t>↓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2825496"/>
            <a:ext cx="4937760" cy="457200"/>
          </a:xfrm>
          <a:prstGeom prst="roundRect">
            <a:avLst>
              <a:gd name="adj" fmla="val 16000"/>
            </a:avLst>
          </a:prstGeom>
          <a:solidFill>
            <a:srgbClr val="F0FDFA"/>
          </a:solidFill>
          <a:ln w="12700">
            <a:solidFill>
              <a:srgbClr val="14B8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51560" y="282549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consumer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1-min aggregate + anomaly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32461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</a:rPr>
              <a:t>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392424"/>
            <a:ext cx="493776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51560" y="339242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dw.fact_vital_signs_minute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381304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</a:rPr>
              <a:t>↓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4400" y="3959352"/>
            <a:ext cx="493776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51560" y="3959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Vitals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1691640"/>
            <a:ext cx="2331720" cy="2834640"/>
          </a:xfrm>
          <a:prstGeom prst="roundRect">
            <a:avLst>
              <a:gd name="adj" fmla="val 3529"/>
            </a:avLst>
          </a:prstGeom>
          <a:solidFill>
            <a:srgbClr val="0B3B39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09360" y="2148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5E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~5%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6537960" y="3017520"/>
            <a:ext cx="1874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6F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minutes flag at least one anomaly — tachycardia, hypoxia, hypertension or fever — surfaced instantly on the dashboard.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WAREHOUSE, BY 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fully cross-referenced star schema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1901952" cy="1133856"/>
          </a:xfrm>
          <a:prstGeom prst="roundRect">
            <a:avLst>
              <a:gd name="adj" fmla="val 7258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837944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2,000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2404872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0" y="1691640"/>
            <a:ext cx="1901952" cy="1133856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560320" y="1837944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6,000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60320" y="2404872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encounters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17720" y="1691640"/>
            <a:ext cx="1901952" cy="1133856"/>
          </a:xfrm>
          <a:prstGeom prst="roundRect">
            <a:avLst>
              <a:gd name="adj" fmla="val 7258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17720" y="1837944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4,000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617720" y="2404872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75120" y="1691640"/>
            <a:ext cx="1901952" cy="1133856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75120" y="1837944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8,235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675120" y="2404872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0088"/>
            <a:ext cx="1901952" cy="1133856"/>
          </a:xfrm>
          <a:prstGeom prst="roundRect">
            <a:avLst>
              <a:gd name="adj" fmla="val 7258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" y="3136392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6,000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502920" y="370332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vital-minutes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60320" y="2990088"/>
            <a:ext cx="1901952" cy="1133856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560320" y="3136392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2560320" y="370332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17720" y="2990088"/>
            <a:ext cx="1901952" cy="1133856"/>
          </a:xfrm>
          <a:prstGeom prst="roundRect">
            <a:avLst>
              <a:gd name="adj" fmla="val 7258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617720" y="3136392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4617720" y="370332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75120" y="2990088"/>
            <a:ext cx="1901952" cy="1133856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675120" y="3136392"/>
            <a:ext cx="1901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6675120" y="370332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2920" y="44348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 FK resolves to a real dimension — all 12 analytical queries return data.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the warehouse answers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600200"/>
          <a:ext cx="50292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715000" y="1645920"/>
            <a:ext cx="2926080" cy="658368"/>
          </a:xfrm>
          <a:prstGeom prst="roundRect">
            <a:avLst>
              <a:gd name="adj" fmla="val 12500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852160" y="1645920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11.2%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858000" y="164592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readmission rate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715000" y="2432304"/>
            <a:ext cx="29260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852160" y="243230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~10%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858000" y="243230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denial rate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715000" y="3218688"/>
            <a:ext cx="2926080" cy="658368"/>
          </a:xfrm>
          <a:prstGeom prst="roundRect">
            <a:avLst>
              <a:gd name="adj" fmla="val 12500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852160" y="3218688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I10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6858000" y="321868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diagnosis (hypertension)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715000" y="4005072"/>
            <a:ext cx="292608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852160" y="4005072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6858000" y="400507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with 2+ chronic conditions (Q7)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BI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dashboard, seven live pages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1901952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79222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21214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KPIs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60320" y="1645920"/>
            <a:ext cx="1901952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97480" y="179222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697480" y="21214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&amp; LOS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17720" y="1645920"/>
            <a:ext cx="1901952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54880" y="179222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754880" y="21214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&amp; denials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675120" y="1645920"/>
            <a:ext cx="1901952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12280" y="179222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Vitals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12280" y="212140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monitor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2743200"/>
            <a:ext cx="1901952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288950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Egypt Map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0080" y="32186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 distribution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560320" y="2743200"/>
            <a:ext cx="1901952" cy="932688"/>
          </a:xfrm>
          <a:prstGeom prst="roundRect">
            <a:avLst>
              <a:gd name="adj" fmla="val 8824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697480" y="288950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697480" y="32186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ask-the-data (NL→SQL)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17720" y="2743200"/>
            <a:ext cx="1901952" cy="932688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54880" y="288950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Health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754880" y="32186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audit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" y="3931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Azure SQL. </a:t>
            </a: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Assistant turns natural-language questions into guarded SELECT-only T-SQL via Azure OpenAI (gpt-5-mini).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live on Azure Container Apps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977640" cy="1051560"/>
          </a:xfrm>
          <a:prstGeom prst="roundRect">
            <a:avLst>
              <a:gd name="adj" fmla="val 7826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dashboard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hcdw-dashboard.jollysea-eb0cfa5c.westeurope.azurecontainerapps.io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1645920"/>
            <a:ext cx="3977640" cy="1051560"/>
          </a:xfrm>
          <a:prstGeom prst="roundRect">
            <a:avLst>
              <a:gd name="adj" fmla="val 7826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4632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API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46320" y="21031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hcdw-provider-api.jollysea-eb0cfa5c.westeurope.azurecontainerapps.io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880360"/>
            <a:ext cx="397764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288036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057400" y="288036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· star schema + 3 views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2880360"/>
            <a:ext cx="397764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288036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Apps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217920" y="288036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+ API, scale-to-zero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630168"/>
            <a:ext cx="397764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363016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Hubs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057400" y="363016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vitals stream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630168"/>
            <a:ext cx="3977640" cy="62179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46320" y="363016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217920" y="363016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gpt-5-mini for the assistant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45262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Scale-to-zero keeps the whole stack at roughly $10–40 / month.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QUALITY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like production software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97764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847088"/>
            <a:ext cx="329184" cy="3291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61288" y="17099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automated tests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161288" y="20025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across generators, Spark helpers, SQL and the Gold loaders.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600200"/>
            <a:ext cx="397764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46320" y="1847088"/>
            <a:ext cx="329184" cy="3291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1828800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21808" y="17099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Multi-job CI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321808" y="20025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Lint, unit + Spark tests, dependency &amp; image security scans, markdown.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542032"/>
            <a:ext cx="397764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85800" y="2788920"/>
            <a:ext cx="329184" cy="3291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" y="2770632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61288" y="26517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Containerised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161288" y="29443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Docker images per service; deploy scripted end-to-end.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2542032"/>
            <a:ext cx="397764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846320" y="2788920"/>
            <a:ext cx="329184" cy="3291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46320" y="2770632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21808" y="26517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321808" y="29443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 logging + a dw.load_audit table recording every ETL run.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3483864"/>
            <a:ext cx="397764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85800" y="3730752"/>
            <a:ext cx="329184" cy="3291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85800" y="3712464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61288" y="35935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default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161288" y="38862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SQL (no injection); secrets via Container App secrets.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3483864"/>
            <a:ext cx="397764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730752"/>
            <a:ext cx="329184" cy="329184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712464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321808" y="35935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5321808" y="38862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DQ rules with a quarantine path; orphan-claim monitor query.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LESSONS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student budget taught 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813816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7647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services priced out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48256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Synapse &amp; Databricks were unaffordable — so we substituted Azure SQL and PySpark while keeping the exact medallion architecture.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606040"/>
            <a:ext cx="813816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272491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build tooling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008376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 Tasks are disabled on the student sub; we build images locally and push, and run a stock-image streaming consumer.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566160"/>
            <a:ext cx="8138160" cy="822960"/>
          </a:xfrm>
          <a:prstGeom prst="roundRect">
            <a:avLst>
              <a:gd name="adj" fmla="val 10000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5400000" algn="bl" rotWithShape="0">
              <a:srgbClr val="0F172A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368503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design vs deployment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3968496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hide the gaps, we documented every design → deployed substitution so the story stays credible.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45720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0B3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Lesson: architecture and discipline matter more than any single managed service.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B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-365760"/>
            <a:ext cx="4023360" cy="4023360"/>
          </a:xfrm>
          <a:prstGeom prst="ellipse">
            <a:avLst/>
          </a:prstGeom>
          <a:solidFill>
            <a:srgbClr val="5EEAD4">
              <a:alpha val="10000"/>
            </a:srgbClr>
          </a:solidFill>
          <a:ln w="9525">
            <a:solidFill>
              <a:srgbClr val="5EEAD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0" y="182880"/>
            <a:ext cx="2926080" cy="2926080"/>
          </a:xfrm>
          <a:prstGeom prst="ellipse">
            <a:avLst/>
          </a:prstGeom>
          <a:solidFill>
            <a:srgbClr val="14B8A6">
              <a:alpha val="10000"/>
            </a:srgbClr>
          </a:solidFill>
          <a:ln w="9525">
            <a:solidFill>
              <a:srgbClr val="5EEAD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949440" y="731520"/>
            <a:ext cx="1828800" cy="1828800"/>
          </a:xfrm>
          <a:prstGeom prst="ellipse">
            <a:avLst/>
          </a:prstGeom>
          <a:solidFill>
            <a:srgbClr val="5EEAD4">
              <a:alpha val="10000"/>
            </a:srgbClr>
          </a:solidFill>
          <a:ln w="9525">
            <a:solidFill>
              <a:srgbClr val="5EEAD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the live dashboard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676656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5EEA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hcdw-dashboard.jollysea-eb0cfa5c.westeurope.azurecontainerapps.io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F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Mahmoud Ali Salem  ·  Ahmed Gamal  ·  Hussein Gabr  ·  John Emad  ·  Mahmoud Tolan  ·  Reem Ashraf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206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DEPI · Microsoft Data Engineer Track  ·  Group MNF4_AIS5_S1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1127</Words>
  <Application>Microsoft Office PowerPoint</Application>
  <PresentationFormat>On-screen Show (16:9)</PresentationFormat>
  <Paragraphs>243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Data Warehouse &amp; Analytics Platform</dc:title>
  <dc:subject>PptxGenJS Presentation</dc:subject>
  <dc:creator>Mahmoud Ali Salem</dc:creator>
  <cp:lastModifiedBy>Mahmoud Salem</cp:lastModifiedBy>
  <cp:revision>2</cp:revision>
  <dcterms:created xsi:type="dcterms:W3CDTF">2026-07-06T16:40:07Z</dcterms:created>
  <dcterms:modified xsi:type="dcterms:W3CDTF">2026-07-06T22:16:47Z</dcterms:modified>
</cp:coreProperties>
</file>