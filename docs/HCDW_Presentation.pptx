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Cambria"/>
              </a:rPr>
              <a:t>Top drugs by spend (Q9)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 (USD)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Insulin glargine</c:v>
                  </c:pt>
                  <c:pt idx="1">
                    <c:v>Albuterol</c:v>
                  </c:pt>
                  <c:pt idx="2">
                    <c:v>Atorvastatin</c:v>
                  </c:pt>
                  <c:pt idx="3">
                    <c:v>Amoxicillin</c:v>
                  </c:pt>
                  <c:pt idx="4">
                    <c:v>Metformin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40053</c:v>
                </c:pt>
                <c:pt idx="1">
                  <c:v>39358</c:v>
                </c:pt>
                <c:pt idx="2">
                  <c:v>25738</c:v>
                </c:pt>
                <c:pt idx="3">
                  <c:v>10996</c:v>
                </c:pt>
                <c:pt idx="4">
                  <c:v>9880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E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-228600"/>
            <a:ext cx="4754880" cy="4754880"/>
          </a:xfrm>
          <a:prstGeom prst="ellipse">
            <a:avLst/>
          </a:prstGeom>
          <a:solidFill>
            <a:srgbClr val="5EEAD4">
              <a:alpha val="12000"/>
            </a:srgbClr>
          </a:solidFill>
          <a:ln w="9525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89320" y="32004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 w="9525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0" y="868680"/>
            <a:ext cx="2560320" cy="2560320"/>
          </a:xfrm>
          <a:prstGeom prst="ellipse">
            <a:avLst/>
          </a:prstGeom>
          <a:solidFill>
            <a:srgbClr val="5EEAD4">
              <a:alpha val="12000"/>
            </a:srgbClr>
          </a:solidFill>
          <a:ln w="9525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1417320"/>
            <a:ext cx="1463040" cy="1463040"/>
          </a:xfrm>
          <a:prstGeom prst="ellipse">
            <a:avLst/>
          </a:prstGeom>
          <a:solidFill>
            <a:srgbClr val="14B8A6">
              <a:alpha val="12000"/>
            </a:srgbClr>
          </a:solidFill>
          <a:ln w="9525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169164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164592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MICROSOFT DATA ENGINEER TRACK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Data Warehouse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Analytics Platform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ETL · real-time patient vitals · clinical BI — for a 5-hospital, 20-clinic hospital network across Egypt.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77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ON AZURE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Ali Salem (Team Lead) + 5   ·   Group MNF4_AIS5_S1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data scattered across siloed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65960" cy="26060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28800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EHRs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281635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hospital runs its own local EHR — no cross-network patient view.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60904" y="1600200"/>
            <a:ext cx="1965960" cy="26060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62072" y="1828800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62072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claims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62072" y="281635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come back from 7 payers in a mix of CSV and XML formats.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18888" y="1600200"/>
            <a:ext cx="1965960" cy="26060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0056" y="1828800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005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0056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vitals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0056" y="281635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Bedside monitors only expose vendor-specific dashboards, no feed.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76872" y="1600200"/>
            <a:ext cx="1965960" cy="26060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78040" y="1828800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leadership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281635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to: readmission rate? worst-denying payer? unanswered alerts?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data motions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6517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ETL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3580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(Bronze → Silver → Gold) consolidates Synthea records, claims and pharmacy into a governed star schema.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645920"/>
            <a:ext cx="26517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4448" y="18745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8444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streaming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84448" y="303580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vital signs flow through Event Hubs, get aggregated per minute and flagged for anomalies in under 60 seconds.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1645920"/>
            <a:ext cx="26517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18745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▲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37376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BI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7376" y="303580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7-page live dashboard answers operational, financial and clinical questions — with an AI “ask the data” assistant.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 on Azure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481328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0116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· claims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· providers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187452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40280" y="1874520"/>
            <a:ext cx="1481328" cy="1188720"/>
          </a:xfrm>
          <a:prstGeom prst="roundRect">
            <a:avLst>
              <a:gd name="adj" fmla="val 7692"/>
            </a:avLst>
          </a:prstGeom>
          <a:solidFill>
            <a:srgbClr val="E6FBF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20116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40280" y="239572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parquet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ingest metadata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03320" y="187452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977640" y="1874520"/>
            <a:ext cx="1481328" cy="1188720"/>
          </a:xfrm>
          <a:prstGeom prst="roundRect">
            <a:avLst>
              <a:gd name="adj" fmla="val 7692"/>
            </a:avLst>
          </a:prstGeom>
          <a:solidFill>
            <a:srgbClr val="CFF5E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77640" y="20116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7640" y="239572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· schema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+ quarantine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187452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715000" y="1874520"/>
            <a:ext cx="1481328" cy="1188720"/>
          </a:xfrm>
          <a:prstGeom prst="roundRect">
            <a:avLst>
              <a:gd name="adj" fmla="val 7692"/>
            </a:avLst>
          </a:prstGeom>
          <a:solidFill>
            <a:srgbClr val="14B8A6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15000" y="20116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0" y="239572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Azure SQL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78040" y="187452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52360" y="1874520"/>
            <a:ext cx="1481328" cy="1188720"/>
          </a:xfrm>
          <a:prstGeom prst="roundRect">
            <a:avLst>
              <a:gd name="adj" fmla="val 7692"/>
            </a:avLst>
          </a:prstGeom>
          <a:solidFill>
            <a:srgbClr val="0B3B3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52360" y="20116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52360" y="239572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9474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4290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layer  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vitals → Azure Event Hubs → Python consumer (1-minute aggregation + anomaly detection) → dw.fact_vital_signs_minute → live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AS-DESIGNED VS AS-DEPLOYED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design, student-budget deployment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8138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31089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designed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deployed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Synapse dedicated pool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SQL Database (Basic)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compute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 (local / CI + Docker)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 Factory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loader scripts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Hubs + Spark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Hubs + Python consumer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on Container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medallion architecture and star schema — only the underlying services changed.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 synthetic data — zero real PHI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7764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patients, encounters, conditions &amp; medications — addresses remapped to Egyptian governorates.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97764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965960"/>
            <a:ext cx="502920" cy="50292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generator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577840" y="210312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JSONL claims: 7 payers, ICD-10 codes, carrier-specific denial rates.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397764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64408"/>
            <a:ext cx="502920" cy="50292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simulator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4015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IoT vitals at 1 Hz with baseline drift and injected anomalies.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397764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64408"/>
            <a:ext cx="502920" cy="50292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577840" y="34015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service exposing an 800-provider NPI registry, dumped for batch ETL.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with SCD Type 2 dimensions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383280" y="2148840"/>
            <a:ext cx="2377440" cy="1691640"/>
          </a:xfrm>
          <a:prstGeom prst="roundRect">
            <a:avLst>
              <a:gd name="adj" fmla="val 5405"/>
            </a:avLst>
          </a:prstGeom>
          <a:solidFill>
            <a:srgbClr val="0B3B39"/>
          </a:solidFill>
          <a:ln/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26060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fact_encounter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fact_claim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fact_prescription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fact_vital_signs_minute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83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dim_patient *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0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dim_provider *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78308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83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dim_hospital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93592" y="141732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28803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880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397764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977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dim_diagnosis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97764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977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dim_drug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6451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dim_patient &amp; dim_provider keep full history via effective_from / effective_to / is_current (SCD Type 2).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→ Silver → Gold: idempotent &amp; governed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578608" cy="2560320"/>
          </a:xfrm>
          <a:prstGeom prst="roundRect">
            <a:avLst>
              <a:gd name="adj" fmla="val 3214"/>
            </a:avLst>
          </a:prstGeom>
          <a:solidFill>
            <a:srgbClr val="E6FB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47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every source as-is: Snappy parquet, partitioned by ingest date, full lineage metadata. Append-only &amp; re-runnable.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90088" y="1645920"/>
            <a:ext cx="2926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64408" y="1645920"/>
            <a:ext cx="2578608" cy="2560320"/>
          </a:xfrm>
          <a:prstGeom prst="roundRect">
            <a:avLst>
              <a:gd name="adj" fmla="val 3214"/>
            </a:avLst>
          </a:prstGeom>
          <a:solidFill>
            <a:srgbClr val="CFF5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847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493008" y="23774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schemas on Delta. 12 data-quality rules split clean vs quarantine; governorate remap; derived flags (age band, 30-day readmission).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51576" y="1645920"/>
            <a:ext cx="2926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25896" y="1645920"/>
            <a:ext cx="2578608" cy="2560320"/>
          </a:xfrm>
          <a:prstGeom prst="roundRect">
            <a:avLst>
              <a:gd name="adj" fmla="val 3214"/>
            </a:avLst>
          </a:prstGeom>
          <a:solidFill>
            <a:srgbClr val="A7F3D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847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54496" y="23774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surrogate keys, conformed dims and facts staged, then loaded into the Azure SQL dw.* star schema.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patient vitals in under 60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simulator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(~40 devices @ 1 Hz)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21122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258568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258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Event Hubs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(Kafka endpoint)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679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82549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254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consumer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 aggregate + anomaly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246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92424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3924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dw.fact_vital_signs_minute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813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95935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959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2331720" cy="2834640"/>
          </a:xfrm>
          <a:prstGeom prst="roundRect">
            <a:avLst>
              <a:gd name="adj" fmla="val 3529"/>
            </a:avLst>
          </a:prstGeom>
          <a:solidFill>
            <a:srgbClr val="0B3B3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2148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~5%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537960" y="301752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minutes flag at least one anomaly — tachycardia, hypoxia, hypertension or fever — surfaced instantly on the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WAREHOUSE, 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fully cross-referenced star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901952" cy="1133856"/>
          </a:xfrm>
          <a:prstGeom prst="roundRect">
            <a:avLst>
              <a:gd name="adj" fmla="val 7258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3794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40487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691640"/>
            <a:ext cx="1901952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83794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240487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1901952" cy="1133856"/>
          </a:xfrm>
          <a:prstGeom prst="roundRect">
            <a:avLst>
              <a:gd name="adj" fmla="val 7258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83794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240487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691640"/>
            <a:ext cx="1901952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83794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8,235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40487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990088"/>
            <a:ext cx="1901952" cy="1133856"/>
          </a:xfrm>
          <a:prstGeom prst="roundRect">
            <a:avLst>
              <a:gd name="adj" fmla="val 7258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1363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vital-minutes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2990088"/>
            <a:ext cx="1901952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31363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560320" y="37033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990088"/>
            <a:ext cx="1901952" cy="1133856"/>
          </a:xfrm>
          <a:prstGeom prst="roundRect">
            <a:avLst>
              <a:gd name="adj" fmla="val 7258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31363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617720" y="37033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2990088"/>
            <a:ext cx="1901952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31363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675120" y="37033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FK resolves to a real dimension — all 12 analytical queries return data.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the warehouse answers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645920"/>
            <a:ext cx="2926080" cy="658368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64592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11.2%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58000" y="16459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rate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715000" y="2432304"/>
            <a:ext cx="2926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24323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58000" y="243230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 rate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15000" y="3218688"/>
            <a:ext cx="2926080" cy="658368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321868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I10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858000" y="321868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diagnosis (hypertension)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15000" y="4005072"/>
            <a:ext cx="2926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160" y="400507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858000" y="400507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2+ chronic conditions (Q7)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seven live pages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90195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922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KPIs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645920"/>
            <a:ext cx="190195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7922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97480" y="2121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&amp; LOS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645920"/>
            <a:ext cx="190195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7922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54880" y="2121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 denials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75120" y="1645920"/>
            <a:ext cx="190195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7922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12280" y="2121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monitor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743200"/>
            <a:ext cx="190195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8895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Map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3218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distribution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2743200"/>
            <a:ext cx="1901952" cy="932688"/>
          </a:xfrm>
          <a:prstGeom prst="roundRect">
            <a:avLst>
              <a:gd name="adj" fmla="val 882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97480" y="28895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697480" y="3218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ask-the-data (NL→SQL)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743200"/>
            <a:ext cx="190195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28895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754880" y="3218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audit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Azure SQL.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turns natural-language questions into guarded SELECT-only T-SQL via Azure OpenAI (gpt-5-mini).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live on Azure Container Apps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77640" cy="1051560"/>
          </a:xfrm>
          <a:prstGeom prst="roundRect">
            <a:avLst>
              <a:gd name="adj" fmla="val 7826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hcdw-dashboard.jollysea-eb0cfa5c.westeurope.azurecontainerapps.io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3977640" cy="1051560"/>
          </a:xfrm>
          <a:prstGeom prst="roundRect">
            <a:avLst>
              <a:gd name="adj" fmla="val 7826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hcdw-provider-api.jollysea-eb0cfa5c.westeurope.azurecontainerapps.io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977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8803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57400" y="2880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· star schema + 3 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3977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8803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0" y="2880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API, scale-to-zero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30168"/>
            <a:ext cx="3977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6301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57400" y="36301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vitals stream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30168"/>
            <a:ext cx="3977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6301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36301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for the assistant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Scale-to-zero keeps the whole stack at roughly $10–40 / month.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like production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4708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1709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automated tests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" y="20025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across generators, Spark helpers, SQL and the Gold loaders.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3977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84708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2880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21808" y="1709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Multi-job CI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21808" y="20025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unit + Spark tests, dependency &amp; image security scans, markdown.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3977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788920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7063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2944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Docker images per service; deploy scripted end-to-end.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542032"/>
            <a:ext cx="3977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788920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77063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21808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21808" y="2944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 + a dw.load_audit table recording every ETL run.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483864"/>
            <a:ext cx="3977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1246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" y="3593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61288" y="3886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 (no injection); secrets via Container App secrets.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483864"/>
            <a:ext cx="3977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730752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71246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3593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321808" y="3886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DQ rules with a quarantine path; orphan-claim monitor query.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student budget taught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8138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647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services priced 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482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&amp; Databricks were unaffordable — so we substituted Azure SQL and PySpark while keeping the exact medallion architecture.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8138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7249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build tooling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0837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Tasks are disabled on the student sub; we build images locally and push, and run a stock-image streaming consumer.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8138160" cy="82296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6850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design vs 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6849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hide the gaps, we documented every design → deployed substitution so the story stays credible.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B3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Lesson: architecture and discipline matter more than any single managed service.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365760"/>
            <a:ext cx="4023360" cy="4023360"/>
          </a:xfrm>
          <a:prstGeom prst="ellipse">
            <a:avLst/>
          </a:prstGeom>
          <a:solidFill>
            <a:srgbClr val="5EEAD4">
              <a:alpha val="10000"/>
            </a:srgbClr>
          </a:solidFill>
          <a:ln w="9525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"/>
            <a:ext cx="2926080" cy="2926080"/>
          </a:xfrm>
          <a:prstGeom prst="ellipse">
            <a:avLst/>
          </a:prstGeom>
          <a:solidFill>
            <a:srgbClr val="14B8A6">
              <a:alpha val="10000"/>
            </a:srgbClr>
          </a:solidFill>
          <a:ln w="9525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731520"/>
            <a:ext cx="1828800" cy="1828800"/>
          </a:xfrm>
          <a:prstGeom prst="ellipse">
            <a:avLst/>
          </a:prstGeom>
          <a:solidFill>
            <a:srgbClr val="5EEAD4">
              <a:alpha val="10000"/>
            </a:srgbClr>
          </a:solidFill>
          <a:ln w="9525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live dashboard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67665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hcdw-dashboard.jollysea-eb0cfa5c.westeurope.azurecontainerapps.io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Ali Salem  ·  Ahmed Gamal  ·  Hussein Gabr  ·  John Emad  ·  Mahmoud Tolan  ·  Reem Ashraf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Microsoft Data Engineer Track  ·  Group MNF4_AIS5_S1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Data Warehouse &amp; Analytics Platform</dc:title>
  <dc:subject>PptxGenJS Presentation</dc:subject>
  <dc:creator>Mahmoud Ali Salem</dc:creator>
  <cp:lastModifiedBy>Mahmoud Ali Salem</cp:lastModifiedBy>
  <cp:revision>1</cp:revision>
  <dcterms:created xsi:type="dcterms:W3CDTF">2026-07-06T16:40:07Z</dcterms:created>
  <dcterms:modified xsi:type="dcterms:W3CDTF">2026-07-06T16:40:07Z</dcterms:modified>
</cp:coreProperties>
</file>